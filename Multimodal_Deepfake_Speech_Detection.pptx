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4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EER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D9488"/>
              </a:solidFill>
            </c:spPr>
            <c:extLst>
              <c:ext xmlns:c16="http://schemas.microsoft.com/office/drawing/2014/chart" uri="{C3380CC4-5D6E-409C-BE32-E72D297353CC}">
                <c16:uniqueId val="{00000001-E2B3-4870-921D-B46A8670B4CF}"/>
              </c:ext>
            </c:extLst>
          </c:dPt>
          <c:dPt>
            <c:idx val="1"/>
            <c:invertIfNegative val="1"/>
            <c:bubble3D val="0"/>
            <c:spPr>
              <a:solidFill>
                <a:srgbClr val="E11D48"/>
              </a:solidFill>
            </c:spPr>
            <c:extLst>
              <c:ext xmlns:c16="http://schemas.microsoft.com/office/drawing/2014/chart" uri="{C3380CC4-5D6E-409C-BE32-E72D297353CC}">
                <c16:uniqueId val="{00000003-E2B3-4870-921D-B46A8670B4C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In-distribution
(FakeAVCeleb)</c:v>
                </c:pt>
                <c:pt idx="1">
                  <c:v>Out-of-distribution
(XTTS, unseen)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0.3725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3-4870-921D-B46A8670B4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lip-sync correlation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1-17AE-4322-A8E5-18F136D2BEAA}"/>
              </c:ext>
            </c:extLst>
          </c:dPt>
          <c:dPt>
            <c:idx val="1"/>
            <c:invertIfNegative val="1"/>
            <c:bubble3D val="0"/>
            <c:spPr>
              <a:solidFill>
                <a:srgbClr val="0D9488"/>
              </a:solidFill>
            </c:spPr>
            <c:extLst>
              <c:ext xmlns:c16="http://schemas.microsoft.com/office/drawing/2014/chart" uri="{C3380CC4-5D6E-409C-BE32-E72D297353CC}">
                <c16:uniqueId val="{00000003-17AE-4322-A8E5-18F136D2BEAA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17AE-4322-A8E5-18F136D2BEAA}"/>
              </c:ext>
            </c:extLst>
          </c:dPt>
          <c:dPt>
            <c:idx val="3"/>
            <c:invertIfNegative val="1"/>
            <c:bubble3D val="0"/>
            <c:spPr>
              <a:solidFill>
                <a:srgbClr val="E11D48"/>
              </a:solidFill>
            </c:spPr>
            <c:extLst>
              <c:ext xmlns:c16="http://schemas.microsoft.com/office/drawing/2014/chart" uri="{C3380CC4-5D6E-409C-BE32-E72D297353CC}">
                <c16:uniqueId val="{00000007-17AE-4322-A8E5-18F136D2BEAA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E293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Wav2Lip
(resynced)</c:v>
                </c:pt>
                <c:pt idx="1">
                  <c:v>Genuine</c:v>
                </c:pt>
                <c:pt idx="2">
                  <c:v>Faceswap</c:v>
                </c:pt>
                <c:pt idx="3">
                  <c:v>Dubbed
(real face)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0.249</c:v>
                </c:pt>
                <c:pt idx="1">
                  <c:v>0.22900000000000001</c:v>
                </c:pt>
                <c:pt idx="2">
                  <c:v>0.17199999999999999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7AE-4322-A8E5-18F136D2BE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OOD EER</c:v>
                </c:pt>
              </c:strCache>
            </c:strRef>
          </c:tx>
          <c:spPr>
            <a:solidFill>
              <a:srgbClr val="E11D48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E293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(clean)</c:v>
                </c:pt>
                <c:pt idx="1">
                  <c:v>+ Augmentation
(no XTTS seen)</c:v>
                </c:pt>
                <c:pt idx="2">
                  <c:v>+ Multi-generator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0.3725</c:v>
                </c:pt>
                <c:pt idx="1">
                  <c:v>0.3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0E0-4C30-ADBE-ECD024ECE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XTTS detection acc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E293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(clean)</c:v>
                </c:pt>
                <c:pt idx="1">
                  <c:v>+ Augmentation
(no XTTS seen)</c:v>
                </c:pt>
                <c:pt idx="2">
                  <c:v>+ Multi-generator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0.44</c:v>
                </c:pt>
                <c:pt idx="1">
                  <c:v>0.56000000000000005</c:v>
                </c:pt>
                <c:pt idx="2">
                  <c:v>0.96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0E0-4C30-ADBE-ECD024ECED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MULTIMODAL DEEPFAKE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5EEAD4"/>
                </a:solidFill>
                <a:latin typeface="Georgia"/>
              </a:rPr>
              <a:t>SPEECH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987552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 dirty="0">
                <a:solidFill>
                  <a:srgbClr val="CBD5E1"/>
                </a:solidFill>
                <a:latin typeface="Calibri"/>
              </a:rPr>
              <a:t>Detecting AI-generated speech with wav2vec2 + audio-visual lip-sync.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5061204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64748B"/>
                </a:solidFill>
                <a:latin typeface="Calibri"/>
              </a:rPr>
              <a:t>Dataset 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FakeAVCeleb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v1.2</a:t>
            </a:r>
            <a:r>
              <a:rPr sz="1300" b="1" i="0" dirty="0">
                <a:solidFill>
                  <a:srgbClr val="64748B"/>
                </a:solidFill>
                <a:latin typeface="Calibri"/>
              </a:rPr>
              <a:t>      Model  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wav2vec2</a:t>
            </a:r>
            <a:r>
              <a:rPr sz="1300" b="1" i="0" dirty="0">
                <a:solidFill>
                  <a:srgbClr val="64748B"/>
                </a:solidFill>
                <a:latin typeface="Calibri"/>
              </a:rPr>
              <a:t> 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B091F-F203-C86B-0096-A9991A0A124C}"/>
              </a:ext>
            </a:extLst>
          </p:cNvPr>
          <p:cNvSpPr txBox="1"/>
          <p:nvPr/>
        </p:nvSpPr>
        <p:spPr>
          <a:xfrm>
            <a:off x="822960" y="416052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Calibri"/>
              </a:rPr>
              <a:t>Authors:</a:t>
            </a:r>
            <a:r>
              <a:rPr sz="1300" b="1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300" b="0" i="0" dirty="0" err="1">
                <a:solidFill>
                  <a:srgbClr val="FFFFFF"/>
                </a:solidFill>
                <a:latin typeface="Calibri"/>
              </a:rPr>
              <a:t>Matzorakis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 Kostis (MTN 2514) – Manthos George (MTN 2513) – Batziopoulos Spiros (MTN 2515)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What we'll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93B"/>
                </a:solidFill>
                <a:latin typeface="Georgia"/>
              </a:rPr>
              <a:t>Problem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688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FakeAVCeleb, the speech-label insight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93B"/>
                </a:solidFill>
                <a:latin typeface="Georgia"/>
              </a:rPr>
              <a:t>Audio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4688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wav2vec2 baseline &amp; metrics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37560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1E293B"/>
                </a:solidFill>
                <a:latin typeface="Georgia"/>
              </a:rPr>
              <a:t>The data leak</a:t>
            </a:r>
            <a:r>
              <a:rPr lang="en-US" sz="1800" b="1" i="0" dirty="0">
                <a:solidFill>
                  <a:srgbClr val="1E293B"/>
                </a:solidFill>
                <a:latin typeface="Georgia"/>
              </a:rPr>
              <a:t>?</a:t>
            </a:r>
            <a:endParaRPr sz="1800" b="1" i="0" dirty="0">
              <a:solidFill>
                <a:srgbClr val="1E293B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3840480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64748B"/>
                </a:solidFill>
                <a:latin typeface="Calibri"/>
              </a:rPr>
              <a:t>A hidden flaw and what it revealed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375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93B"/>
                </a:solidFill>
                <a:latin typeface="Georgia"/>
              </a:rPr>
              <a:t>Generalization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8404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cross-generator collapse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709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93B"/>
                </a:solidFill>
                <a:latin typeface="Georgia"/>
              </a:rPr>
              <a:t>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Lip-sync fusion, complementary modes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09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93B"/>
                </a:solidFill>
                <a:latin typeface="Georgia"/>
              </a:rPr>
              <a:t>Robustness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Augmentation + multi-generator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>
                <a:solidFill>
                  <a:srgbClr val="1E293B"/>
                </a:solidFill>
                <a:latin typeface="Georgia"/>
              </a:rPr>
              <a:t>Detect synthetic speech and prove the detector is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28016" cy="2743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22402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93B"/>
                </a:solidFill>
                <a:latin typeface="Georgia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88036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4748B"/>
                </a:solidFill>
                <a:latin typeface="Calibri"/>
              </a:rPr>
              <a:t>Classify speech as real vs AI-generated, using audio plus complementary visual lip-movement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965960"/>
            <a:ext cx="128016" cy="2743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2402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93B"/>
                </a:solidFill>
                <a:latin typeface="Georgia"/>
              </a:rPr>
              <a:t>Why it's 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8036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4748B"/>
                </a:solidFill>
                <a:latin typeface="Calibri"/>
              </a:rPr>
              <a:t>Detectors learn a dataset-specific fingerprint and collapse on a generator they never saw.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965960"/>
            <a:ext cx="128016" cy="2743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93B"/>
                </a:solidFill>
                <a:latin typeface="Georgia"/>
              </a:rPr>
              <a:t>Our 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8036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4748B"/>
                </a:solidFill>
                <a:latin typeface="Calibri"/>
              </a:rPr>
              <a:t>Treat rigorous evaluation as the deliverable: hunt leaks, test across generators, explain every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Fakes here: </a:t>
            </a:r>
            <a:r>
              <a:rPr sz="1400" b="0" i="0">
                <a:solidFill>
                  <a:srgbClr val="64748B"/>
                </a:solidFill>
                <a:latin typeface="Calibri"/>
              </a:rPr>
              <a:t>audio cloned by SV2TTS (one generator); video by Faceswap / FSGAN / Wav2Lip.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E11D48"/>
                </a:solidFill>
                <a:latin typeface="Calibri"/>
              </a:rPr>
              <a:t>Label insight: 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it's a SPEECH task </a:t>
            </a: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>so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the label is the audio half of each clip, not the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 err="1">
                <a:solidFill>
                  <a:srgbClr val="1E293B"/>
                </a:solidFill>
                <a:latin typeface="Georgia"/>
              </a:rPr>
              <a:t>FakeAVCeleb</a:t>
            </a:r>
            <a:r>
              <a:rPr sz="3100" b="1" i="0" dirty="0">
                <a:solidFill>
                  <a:srgbClr val="1E293B"/>
                </a:solidFill>
                <a:latin typeface="Georgia"/>
              </a:rPr>
              <a:t> v1.2  labelled by AUDIO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6596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T="36576" marB="36576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Video</a:t>
                      </a:r>
                    </a:p>
                  </a:txBody>
                  <a:tcPr marL="109728" marT="36576" marB="36576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marL="109728" marT="36576" marB="36576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109728" marT="36576" marB="36576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Clips</a:t>
                      </a:r>
                    </a:p>
                  </a:txBody>
                  <a:tcPr marL="109728" marT="36576" marB="36576" anchor="ctr">
                    <a:solidFill>
                      <a:srgbClr val="0F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RealVideo-RealAudio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488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FakeVideo-RealAudio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9488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9,709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RealVideo-FakeAudio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11D48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FakeVideo-FakeAudio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11D48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10,835</a:t>
                      </a:r>
                    </a:p>
                  </a:txBody>
                  <a:tcPr marL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965960"/>
            <a:ext cx="3703320" cy="2468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83879" y="219456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D9488"/>
                </a:solidFill>
                <a:latin typeface="Georgia"/>
              </a:rPr>
              <a:t>21,544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944368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clips · ~53% fake (class-weighted loss)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33756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B8A6"/>
                </a:solidFill>
                <a:latin typeface="Georgia"/>
              </a:rP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087368"/>
            <a:ext cx="3017520" cy="395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>
                <a:solidFill>
                  <a:srgbClr val="64748B"/>
                </a:solidFill>
                <a:latin typeface="Calibri"/>
              </a:rPr>
              <a:t>speakers  each in BOTH labels → no random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Real speech = A + C   </a:t>
            </a:r>
            <a:r>
              <a:rPr sz="1600" b="1" i="0">
                <a:solidFill>
                  <a:srgbClr val="E11D48"/>
                </a:solidFill>
                <a:latin typeface="Calibri"/>
              </a:rPr>
              <a:t>·   Fake speech = B +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>Labelling by the “Fake/Real Video” folder would be wrong </a:t>
            </a:r>
            <a:r>
              <a:rPr lang="en-US" sz="1400" i="1" dirty="0">
                <a:solidFill>
                  <a:srgbClr val="64748B"/>
                </a:solidFill>
                <a:latin typeface="Calibri"/>
              </a:rPr>
              <a:t>as</a:t>
            </a:r>
            <a:r>
              <a:rPr sz="1400" b="0" i="1" dirty="0">
                <a:solidFill>
                  <a:srgbClr val="64748B"/>
                </a:solidFill>
                <a:latin typeface="Calibri"/>
              </a:rPr>
              <a:t> the synthetic-audio truth is what defines fake speech.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Georgia"/>
              </a:rPr>
              <a:t>An end-to-end, audit-friendly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103120" cy="1645920"/>
          </a:xfrm>
          <a:prstGeom prst="roundRect">
            <a:avLst>
              <a:gd name="adj" fmla="val 6000"/>
            </a:avLst>
          </a:prstGeom>
          <a:solidFill>
            <a:srgbClr val="12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10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glob →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103120"/>
            <a:ext cx="2103120" cy="1645920"/>
          </a:xfrm>
          <a:prstGeom prst="roundRect">
            <a:avLst>
              <a:gd name="adj" fmla="val 6000"/>
            </a:avLst>
          </a:prstGeom>
          <a:solidFill>
            <a:srgbClr val="12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15468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9718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310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ffmpeg → 16 kHz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103120"/>
            <a:ext cx="2103120" cy="1645920"/>
          </a:xfrm>
          <a:prstGeom prst="roundRect">
            <a:avLst>
              <a:gd name="adj" fmla="val 6000"/>
            </a:avLst>
          </a:prstGeom>
          <a:solidFill>
            <a:srgbClr val="12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4068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718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310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speaker / audio-hash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103120"/>
            <a:ext cx="2103120" cy="1645920"/>
          </a:xfrm>
          <a:prstGeom prst="roundRect">
            <a:avLst>
              <a:gd name="adj" fmla="val 6000"/>
            </a:avLst>
          </a:prstGeom>
          <a:solidFill>
            <a:srgbClr val="12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26679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9718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10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wav2vec2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103120"/>
            <a:ext cx="2103120" cy="1645920"/>
          </a:xfrm>
          <a:prstGeom prst="roundRect">
            <a:avLst>
              <a:gd name="adj" fmla="val 6000"/>
            </a:avLst>
          </a:prstGeom>
          <a:solidFill>
            <a:srgbClr val="12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1268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9718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310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BD5E1"/>
                </a:solidFill>
                <a:latin typeface="Calibri"/>
              </a:rPr>
              <a:t>EER · AUC · per-cat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1480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5EEA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Audio extraction: all 21,544 clips, 0 failures, cached &amp; reusable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5EEA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Split by speaker (70/15/15) with an assertion of zero overlap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5EEAD4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Three flows branch off the shared audio: generalization, fusion, robustness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>
                <a:solidFill>
                  <a:srgbClr val="1E293B"/>
                </a:solidFill>
                <a:latin typeface="Georgia"/>
              </a:rPr>
              <a:t>Fine-tuning wav2vec2 </a:t>
            </a:r>
            <a:r>
              <a:rPr lang="en-US" sz="3100" b="1" i="0" dirty="0">
                <a:solidFill>
                  <a:srgbClr val="1E293B"/>
                </a:solidFill>
                <a:latin typeface="Georgia"/>
              </a:rPr>
              <a:t>and</a:t>
            </a:r>
            <a:r>
              <a:rPr sz="3100" b="1" i="0" dirty="0">
                <a:solidFill>
                  <a:srgbClr val="1E293B"/>
                </a:solidFill>
                <a:latin typeface="Georgia"/>
              </a:rPr>
              <a:t> how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400800" cy="148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1" i="0" dirty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wav2vec2-base</a:t>
            </a:r>
            <a:r>
              <a:rPr lang="en-US" sz="1600" b="0" i="0" dirty="0">
                <a:solidFill>
                  <a:srgbClr val="1E293B"/>
                </a:solidFill>
                <a:latin typeface="Calibri"/>
              </a:rPr>
              <a:t>: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 self-supervised speech transformer</a:t>
            </a:r>
          </a:p>
          <a:p>
            <a:pPr algn="l">
              <a:lnSpc>
                <a:spcPct val="155000"/>
              </a:lnSpc>
            </a:pPr>
            <a:r>
              <a:rPr sz="1600" b="1" i="0" dirty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Freeze CNN encoder</a:t>
            </a:r>
            <a:r>
              <a:rPr lang="en-US" sz="1600" b="0" i="0" dirty="0">
                <a:solidFill>
                  <a:srgbClr val="1E293B"/>
                </a:solidFill>
                <a:latin typeface="Calibri"/>
              </a:rPr>
              <a:t> -&gt;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 train Transformer + head</a:t>
            </a:r>
          </a:p>
          <a:p>
            <a:pPr algn="l">
              <a:lnSpc>
                <a:spcPct val="155000"/>
              </a:lnSpc>
            </a:pPr>
            <a:r>
              <a:rPr sz="1600" b="1" i="0" dirty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 dirty="0" err="1">
                <a:solidFill>
                  <a:srgbClr val="1E293B"/>
                </a:solidFill>
                <a:latin typeface="Calibri"/>
              </a:rPr>
              <a:t>AdamW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 · fp16 · class-weighted loss · 3 epochs</a:t>
            </a:r>
          </a:p>
          <a:p>
            <a:pPr algn="l">
              <a:lnSpc>
                <a:spcPct val="155000"/>
              </a:lnSpc>
            </a:pPr>
            <a:r>
              <a:rPr sz="1600" b="1" i="0" dirty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 dirty="0">
                <a:solidFill>
                  <a:srgbClr val="1E293B"/>
                </a:solidFill>
                <a:latin typeface="Calibri"/>
              </a:rPr>
              <a:t>Checkpoint chosen by validation 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65960"/>
            <a:ext cx="4114800" cy="3017520"/>
          </a:xfrm>
          <a:prstGeom prst="roundRect">
            <a:avLst>
              <a:gd name="adj" fmla="val 6000"/>
            </a:avLst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79" y="22402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EEAD4"/>
                </a:solidFill>
                <a:latin typeface="Georgia"/>
              </a:rPr>
              <a:t>EER (Equal Error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83464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CBD5E1"/>
                </a:solidFill>
                <a:latin typeface="Calibri"/>
              </a:rPr>
              <a:t>The point where false-accepts equal false-rejects. The ASVspoof standard. 0 = perfect, 0.5 = random. Threshold-independent.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1148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CBD5E1"/>
                </a:solidFill>
                <a:latin typeface="Calibri"/>
              </a:rPr>
              <a:t>Also: AUC, confusion matrix, and a per-category breakdown (exposes shortcuts).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Why wav2vec2? </a:t>
            </a:r>
            <a:r>
              <a:rPr sz="1400" b="0" i="0">
                <a:solidFill>
                  <a:srgbClr val="64748B"/>
                </a:solidFill>
                <a:latin typeface="Calibri"/>
              </a:rPr>
              <a:t>pretrained speech representations transfer to spoof detection with little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AUDIO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>
                <a:solidFill>
                  <a:srgbClr val="1E293B"/>
                </a:solidFill>
                <a:latin typeface="Georgia"/>
              </a:rPr>
              <a:t>Baseline </a:t>
            </a:r>
            <a:r>
              <a:rPr lang="en-US" sz="3100" b="1" i="0" dirty="0">
                <a:solidFill>
                  <a:srgbClr val="1E293B"/>
                </a:solidFill>
                <a:latin typeface="Georgia"/>
              </a:rPr>
              <a:t>was</a:t>
            </a:r>
            <a:r>
              <a:rPr sz="3100" b="1" i="0" dirty="0">
                <a:solidFill>
                  <a:srgbClr val="1E293B"/>
                </a:solidFill>
                <a:latin typeface="Georgia"/>
              </a:rPr>
              <a:t> near-perfect, and suspicious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Trained on the speaker-disjoint split</a:t>
            </a:r>
          </a:p>
          <a:p>
            <a:pPr algn="l">
              <a:lnSpc>
                <a:spcPct val="160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Evaluated on held-out test speakers</a:t>
            </a:r>
          </a:p>
          <a:p>
            <a:pPr algn="l">
              <a:lnSpc>
                <a:spcPct val="160000"/>
              </a:lnSpc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All four categories ≈ 100%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965960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12280" y="228600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D9488"/>
                </a:solidFill>
                <a:latin typeface="Georgia"/>
              </a:rPr>
              <a:t>0.0009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303580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test EER (leaky split)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28600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D9488"/>
                </a:solidFill>
                <a:latin typeface="Georgia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3035808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test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023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Confusion matrix: essentially zero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E11D48"/>
                </a:solidFill>
                <a:latin typeface="Calibri"/>
              </a:rPr>
              <a:t>Red flag: </a:t>
            </a:r>
            <a:r>
              <a:rPr lang="en-US" sz="1500" b="0" i="0" dirty="0">
                <a:solidFill>
                  <a:srgbClr val="64748B"/>
                </a:solidFill>
                <a:latin typeface="Calibri"/>
              </a:rPr>
              <a:t>Perfect score is probably a data leak issue</a:t>
            </a:r>
            <a:endParaRPr sz="1500" b="0" i="0" dirty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PLOT TWIST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A hidden leak: the same audio in train AND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</a:rPr>
              <a:t>Diagnostics (leaky split)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50292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E293B"/>
                </a:solidFill>
                <a:latin typeface="Calibri"/>
              </a:rPr>
              <a:t>Speaker overlap train/test: </a:t>
            </a:r>
            <a:r>
              <a:rPr sz="1450" b="1" i="0">
                <a:solidFill>
                  <a:srgbClr val="0D9488"/>
                </a:solidFill>
                <a:latin typeface="Consolas"/>
              </a:rPr>
              <a:t>0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E293B"/>
                </a:solidFill>
                <a:latin typeface="Calibri"/>
              </a:rPr>
              <a:t>Distinct audio hashes: </a:t>
            </a:r>
            <a:r>
              <a:rPr sz="1450" b="0" i="0">
                <a:solidFill>
                  <a:srgbClr val="1E293B"/>
                </a:solidFill>
                <a:latin typeface="Consolas"/>
              </a:rPr>
              <a:t>6,807 / 18,388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E293B"/>
                </a:solidFill>
                <a:latin typeface="Calibri"/>
              </a:rPr>
              <a:t>Hashes in BOTH splits: </a:t>
            </a:r>
            <a:r>
              <a:rPr sz="1450" b="1" i="0">
                <a:solidFill>
                  <a:srgbClr val="E11D48"/>
                </a:solidFill>
                <a:latin typeface="Consolas"/>
              </a:rPr>
              <a:t>892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E293B"/>
                </a:solidFill>
                <a:latin typeface="Calibri"/>
              </a:rPr>
              <a:t>Clips in duplicate groups: </a:t>
            </a:r>
            <a:r>
              <a:rPr sz="1450" b="1" i="0">
                <a:solidFill>
                  <a:srgbClr val="E11D48"/>
                </a:solidFill>
                <a:latin typeface="Consolas"/>
              </a:rPr>
              <a:t>14,093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5212080" cy="3200400"/>
          </a:xfrm>
          <a:prstGeom prst="roundRect">
            <a:avLst>
              <a:gd name="adj" fmla="val 6000"/>
            </a:avLst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240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Georgia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4617720" cy="728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BD5E1"/>
                </a:solidFill>
                <a:latin typeface="Calibri"/>
              </a:rPr>
              <a:t>One cloned voice is dubbed onto many faces. We split by the video/folder identity  but the VOICE identity lives in the filename.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1148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1"/>
                </a:solidFill>
                <a:latin typeface="Consolas"/>
              </a:rPr>
              <a:t>train  id03781  …</a:t>
            </a:r>
            <a:r>
              <a:rPr sz="1300" b="0" i="0">
                <a:solidFill>
                  <a:srgbClr val="5EEAD4"/>
                </a:solidFill>
                <a:latin typeface="Consolas"/>
              </a:rPr>
              <a:t>id00428</a:t>
            </a:r>
            <a:r>
              <a:rPr sz="1300" b="0" i="0">
                <a:solidFill>
                  <a:srgbClr val="CBD5E1"/>
                </a:solidFill>
                <a:latin typeface="Consolas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1"/>
                </a:solidFill>
                <a:latin typeface="Consolas"/>
              </a:rPr>
              <a:t>test   id01091  …</a:t>
            </a:r>
            <a:r>
              <a:rPr sz="1300" b="0" i="0">
                <a:solidFill>
                  <a:srgbClr val="5EEAD4"/>
                </a:solidFill>
                <a:latin typeface="Consolas"/>
              </a:rPr>
              <a:t>id00428</a:t>
            </a:r>
            <a:r>
              <a:rPr sz="1300" b="0" i="0">
                <a:solidFill>
                  <a:srgbClr val="FB7185"/>
                </a:solidFill>
                <a:latin typeface="Calibri"/>
              </a:rPr>
              <a:t>…  ← same waveform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>Splitting by face kept faces disjoint  but let voices (and exact audio) cross.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0D9488"/>
                </a:solidFill>
                <a:latin typeface="Calibri"/>
              </a:rPr>
              <a:t>THE FIX  AND THE REAL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Split by audio hash → then a twist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5836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Filename parsing FAILED (voice id encoded differently per method)</a:t>
            </a:r>
          </a:p>
          <a:p>
            <a:pPr algn="l">
              <a:lnSpc>
                <a:spcPct val="155000"/>
              </a:lnSpc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Working fix: hash the waveform, dedup, split unique audios</a:t>
            </a:r>
          </a:p>
          <a:p>
            <a:pPr algn="l">
              <a:lnSpc>
                <a:spcPct val="155000"/>
              </a:lnSpc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21,544 clips → 7,752 unique (64% were duplicate audio)</a:t>
            </a:r>
          </a:p>
          <a:p>
            <a:pPr algn="l">
              <a:lnSpc>
                <a:spcPct val="155000"/>
              </a:lnSpc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Cross-split hashes after fix: 0 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965960"/>
            <a:ext cx="3931920" cy="3017520"/>
          </a:xfrm>
          <a:prstGeom prst="roundRect">
            <a:avLst>
              <a:gd name="adj" fmla="val 6000"/>
            </a:avLst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2194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B7185"/>
                </a:solidFill>
                <a:latin typeface="Georgia"/>
              </a:rPr>
              <a:t>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7889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0.0009</a:t>
            </a:r>
            <a:r>
              <a:rPr sz="2000" b="0" i="0">
                <a:solidFill>
                  <a:srgbClr val="64748B"/>
                </a:solidFill>
                <a:latin typeface="Calibri"/>
              </a:rPr>
              <a:t>  →  </a:t>
            </a:r>
            <a:r>
              <a:rPr sz="3000" b="1" i="0">
                <a:solidFill>
                  <a:srgbClr val="5EEAD4"/>
                </a:solidFill>
                <a:latin typeface="Georgia"/>
              </a:rPr>
              <a:t>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520440"/>
            <a:ext cx="3291840" cy="94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CBD5E1"/>
                </a:solidFill>
                <a:latin typeface="Calibri"/>
              </a:rPr>
              <a:t>Fixing the leak barely moved the score</a:t>
            </a:r>
            <a:r>
              <a:rPr lang="en-US" sz="1350" b="0" i="0" dirty="0">
                <a:solidFill>
                  <a:srgbClr val="CBD5E1"/>
                </a:solidFill>
                <a:latin typeface="Calibri"/>
              </a:rPr>
              <a:t> and </a:t>
            </a:r>
            <a:r>
              <a:rPr lang="en-US" sz="1350" dirty="0">
                <a:solidFill>
                  <a:srgbClr val="CBD5E1"/>
                </a:solidFill>
                <a:latin typeface="Calibri"/>
              </a:rPr>
              <a:t>not in the direction expected!!</a:t>
            </a:r>
            <a:r>
              <a:rPr sz="1350" b="0" i="0" dirty="0">
                <a:solidFill>
                  <a:srgbClr val="CBD5E1"/>
                </a:solidFill>
                <a:latin typeface="Calibri"/>
              </a:rPr>
              <a:t> So the leak was NOT the cause </a:t>
            </a:r>
            <a:r>
              <a:rPr lang="en-US" sz="1350" b="0" i="0" dirty="0">
                <a:solidFill>
                  <a:srgbClr val="CBD5E1"/>
                </a:solidFill>
                <a:latin typeface="Calibri"/>
              </a:rPr>
              <a:t>and probably</a:t>
            </a:r>
            <a:r>
              <a:rPr sz="1350" b="0" i="0" dirty="0">
                <a:solidFill>
                  <a:srgbClr val="CBD5E1"/>
                </a:solidFill>
                <a:latin typeface="Calibri"/>
              </a:rPr>
              <a:t> the task is trivially separable in-distribution.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>That pointed to a deeper channel / generator shortcut </a:t>
            </a:r>
            <a:r>
              <a:rPr lang="en-US" sz="1400" i="1" dirty="0">
                <a:solidFill>
                  <a:srgbClr val="64748B"/>
                </a:solidFill>
                <a:latin typeface="Calibri"/>
              </a:rPr>
              <a:t>which is</a:t>
            </a:r>
            <a:r>
              <a:rPr sz="1400" b="0" i="1" dirty="0">
                <a:solidFill>
                  <a:srgbClr val="64748B"/>
                </a:solidFill>
                <a:latin typeface="Calibri"/>
              </a:rPr>
              <a:t> visible only out-of-distribution.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7185"/>
                </a:solidFill>
                <a:latin typeface="Calibri"/>
              </a:rPr>
              <a:t>THE DECISIVE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Georgia"/>
              </a:rPr>
              <a:t>It collapses on a generator it never saw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01168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20574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>Tested on unseen sources: 200 LibriSpeech reals + 100 XTTS fakes (a different generator).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108960"/>
            <a:ext cx="5120640" cy="721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 i="0" dirty="0">
                <a:solidFill>
                  <a:srgbClr val="5EEAD4"/>
                </a:solidFill>
                <a:latin typeface="Calibri"/>
              </a:rPr>
              <a:t>REAL (</a:t>
            </a:r>
            <a:r>
              <a:rPr sz="1700" b="1" i="0" dirty="0" err="1">
                <a:solidFill>
                  <a:srgbClr val="5EEAD4"/>
                </a:solidFill>
                <a:latin typeface="Calibri"/>
              </a:rPr>
              <a:t>LibriSpeech</a:t>
            </a:r>
            <a:r>
              <a:rPr sz="1700" b="1" i="0" dirty="0">
                <a:solidFill>
                  <a:srgbClr val="5EEAD4"/>
                </a:solidFill>
                <a:latin typeface="Calibri"/>
              </a:rPr>
              <a:t>):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81.5% </a:t>
            </a:r>
          </a:p>
          <a:p>
            <a:pPr algn="l">
              <a:lnSpc>
                <a:spcPct val="145000"/>
              </a:lnSpc>
            </a:pPr>
            <a:r>
              <a:rPr sz="1700" b="1" i="0" dirty="0">
                <a:solidFill>
                  <a:srgbClr val="FB7185"/>
                </a:solidFill>
                <a:latin typeface="Calibri"/>
              </a:rPr>
              <a:t>FAKE (XTTS):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44% </a:t>
            </a:r>
            <a:r>
              <a:rPr lang="en-US" sz="1700" dirty="0">
                <a:solidFill>
                  <a:srgbClr val="FFFFFF"/>
                </a:solidFill>
                <a:latin typeface="Calibri"/>
              </a:rPr>
              <a:t>-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below chance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5120640" cy="535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CBD5E1"/>
                </a:solidFill>
                <a:latin typeface="Calibri"/>
              </a:rPr>
              <a:t>It learned the SV2TTS fingerprint  not “fakeness.” In-distribution EER is misleading.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GOING MULTIMODAL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Lip-sync: generator-agnostic, catches dubbing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011680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20574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Method: mouth-openness (MediaPipe) vs audio envelope, cross-correlated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3063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93B"/>
                </a:solidFill>
                <a:latin typeface="Georgia"/>
              </a:rPr>
              <a:t>Complementary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657600"/>
            <a:ext cx="4846320" cy="57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 i="0" dirty="0">
                <a:solidFill>
                  <a:srgbClr val="0D9488"/>
                </a:solidFill>
                <a:latin typeface="Calibri"/>
              </a:rPr>
              <a:t>Audio: </a:t>
            </a:r>
            <a:r>
              <a:rPr sz="1450" b="0" i="0" dirty="0">
                <a:solidFill>
                  <a:srgbClr val="1E293B"/>
                </a:solidFill>
                <a:latin typeface="Calibri"/>
              </a:rPr>
              <a:t>catches synthesis</a:t>
            </a:r>
            <a:r>
              <a:rPr lang="en-US" sz="1450" b="0" i="0" dirty="0">
                <a:solidFill>
                  <a:srgbClr val="1E293B"/>
                </a:solidFill>
                <a:latin typeface="Calibri"/>
              </a:rPr>
              <a:t> but</a:t>
            </a:r>
            <a:r>
              <a:rPr sz="1450" b="0" i="0" dirty="0">
                <a:solidFill>
                  <a:srgbClr val="1E293B"/>
                </a:solidFill>
                <a:latin typeface="Calibri"/>
              </a:rPr>
              <a:t> fails on new generators.</a:t>
            </a:r>
          </a:p>
          <a:p>
            <a:pPr algn="l">
              <a:lnSpc>
                <a:spcPct val="135000"/>
              </a:lnSpc>
            </a:pPr>
            <a:r>
              <a:rPr sz="1450" b="1" i="0" dirty="0">
                <a:solidFill>
                  <a:srgbClr val="E11D48"/>
                </a:solidFill>
                <a:latin typeface="Calibri"/>
              </a:rPr>
              <a:t>Sync:  </a:t>
            </a:r>
            <a:r>
              <a:rPr sz="1450" b="0" i="0" dirty="0">
                <a:solidFill>
                  <a:srgbClr val="1E293B"/>
                </a:solidFill>
                <a:latin typeface="Calibri"/>
              </a:rPr>
              <a:t>catches dubbing</a:t>
            </a:r>
            <a:r>
              <a:rPr lang="en-US" sz="1450" b="0" i="0" dirty="0">
                <a:solidFill>
                  <a:srgbClr val="1E293B"/>
                </a:solidFill>
                <a:latin typeface="Calibri"/>
              </a:rPr>
              <a:t> but</a:t>
            </a:r>
            <a:r>
              <a:rPr sz="1450" b="0" i="0" dirty="0">
                <a:solidFill>
                  <a:srgbClr val="1E293B"/>
                </a:solidFill>
                <a:latin typeface="Calibri"/>
              </a:rPr>
              <a:t> blind to Wav2Lip resync.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9834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E293B"/>
                </a:solidFill>
                <a:latin typeface="Calibri"/>
              </a:rPr>
              <a:t>Dubbing detection (sync only):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AUC 0.70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MULTIMODAL ·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>
                <a:solidFill>
                  <a:srgbClr val="1E293B"/>
                </a:solidFill>
                <a:latin typeface="Georgia"/>
              </a:rPr>
              <a:t>Late fusion </a:t>
            </a:r>
            <a:r>
              <a:rPr lang="en-US" sz="3100" b="1" i="0" dirty="0">
                <a:solidFill>
                  <a:srgbClr val="1E293B"/>
                </a:solidFill>
                <a:latin typeface="Georgia"/>
              </a:rPr>
              <a:t>as</a:t>
            </a:r>
            <a:r>
              <a:rPr sz="3100" b="1" i="0" dirty="0">
                <a:solidFill>
                  <a:srgbClr val="1E293B"/>
                </a:solidFill>
                <a:latin typeface="Georgia"/>
              </a:rPr>
              <a:t> an honest ablation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9728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109728" anchor="ctr"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EER</a:t>
                      </a:r>
                    </a:p>
                  </a:txBody>
                  <a:tcPr marL="109728" anchor="ctr">
                    <a:solidFill>
                      <a:srgbClr val="0F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Audio-only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Visual-only (sync)</a:t>
                      </a:r>
                    </a:p>
                  </a:txBody>
                  <a:tcPr marL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0.487</a:t>
                      </a:r>
                    </a:p>
                  </a:txBody>
                  <a:tcPr marL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0.541</a:t>
                      </a:r>
                    </a:p>
                  </a:txBody>
                  <a:tcPr marL="10972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0.419</a:t>
                      </a:r>
                    </a:p>
                  </a:txBody>
                  <a:tcPr marL="10972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Fused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2148840"/>
            <a:ext cx="4206240" cy="535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1E293B"/>
                </a:solidFill>
                <a:latin typeface="Calibri"/>
              </a:rPr>
              <a:t>Audio saturates in-distribution, so fusion adds no in-distribution gain </a:t>
            </a:r>
            <a:r>
              <a:rPr lang="en-US" sz="1500" dirty="0">
                <a:solidFill>
                  <a:srgbClr val="1E293B"/>
                </a:solidFill>
                <a:latin typeface="Calibri"/>
              </a:rPr>
              <a:t>generating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a</a:t>
            </a:r>
            <a:r>
              <a:rPr lang="en-US" sz="1500" b="0" i="0" dirty="0">
                <a:solidFill>
                  <a:srgbClr val="1E293B"/>
                </a:solidFill>
                <a:latin typeface="Calibri"/>
              </a:rPr>
              <a:t> more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honest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383280"/>
            <a:ext cx="4206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The multimodal value is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robustness</a:t>
            </a:r>
            <a:r>
              <a:rPr sz="1500" b="0" i="0">
                <a:solidFill>
                  <a:srgbClr val="64748B"/>
                </a:solidFill>
                <a:latin typeface="Calibri"/>
              </a:rPr>
              <a:t>: the two modalities fail on different cases, so each can rescue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>Dubbing-only sync AUC 0.70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0D9488"/>
                </a:solidFill>
                <a:latin typeface="Calibri"/>
              </a:rPr>
              <a:t>EXTENSION</a:t>
            </a:r>
            <a:r>
              <a:rPr lang="el-GR" sz="1300" b="1" dirty="0">
                <a:solidFill>
                  <a:srgbClr val="0D9488"/>
                </a:solidFill>
                <a:latin typeface="Calibri"/>
              </a:rPr>
              <a:t>:</a:t>
            </a:r>
            <a:r>
              <a:rPr sz="1300" b="1" i="0" dirty="0">
                <a:solidFill>
                  <a:srgbClr val="0D9488"/>
                </a:solidFill>
                <a:latin typeface="Calibri"/>
              </a:rPr>
              <a:t> DIAGNOSE AND MITIGATE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 dirty="0">
                <a:solidFill>
                  <a:srgbClr val="1E293B"/>
                </a:solidFill>
                <a:latin typeface="Georgia"/>
              </a:rPr>
              <a:t>Augmentation </a:t>
            </a:r>
            <a:r>
              <a:rPr lang="en-US" sz="3100" b="1" i="0" dirty="0">
                <a:solidFill>
                  <a:srgbClr val="1E293B"/>
                </a:solidFill>
                <a:latin typeface="Georgia"/>
              </a:rPr>
              <a:t>and</a:t>
            </a:r>
            <a:r>
              <a:rPr sz="3100" b="1" i="0" dirty="0">
                <a:solidFill>
                  <a:srgbClr val="1E293B"/>
                </a:solidFill>
                <a:latin typeface="Georgia"/>
              </a:rPr>
              <a:t> multi-generator training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01168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21945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D9488"/>
                </a:solidFill>
                <a:latin typeface="Georgia"/>
              </a:rPr>
              <a:t>Augmentation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651760"/>
            <a:ext cx="3931920" cy="48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64748B"/>
                </a:solidFill>
                <a:latin typeface="Calibri"/>
              </a:rPr>
              <a:t>breaks the channel shortcut and lifts cross-generator detection  with NO XTTS in training (EER 0.37 → 0.30).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43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</a:rPr>
              <a:t>Multi-generator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80060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folds XTTS into training → OOD EER ≈ 0. Caveat: within-generator generalization.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WHAT IT ALL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28016" cy="7498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Georgia"/>
              </a:rPr>
              <a:t>A perfect metric can be meaningless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EER 0.000 in-distribution vs 0.37 on an unseen generator.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70632"/>
            <a:ext cx="128016" cy="7498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Georgia"/>
              </a:rPr>
              <a:t>Rigorous evaluation beats raw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79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Leak hunt, per-category breakdown, OOD test each changed our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66744"/>
            <a:ext cx="128016" cy="7498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66744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Georgia"/>
              </a:rPr>
              <a:t>The leak was real but not the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1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Fixing it was right for rigor, yet it didn't explain the score.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62856"/>
            <a:ext cx="128016" cy="7498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6285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Georgia"/>
              </a:rPr>
              <a:t>Multimodality = complementary blind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46904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64748B"/>
                </a:solidFill>
                <a:latin typeface="Calibri"/>
              </a:rPr>
              <a:t>Audio catches synthesis</a:t>
            </a:r>
            <a:r>
              <a:rPr lang="en-US" sz="1350" b="0" i="0" dirty="0">
                <a:solidFill>
                  <a:srgbClr val="64748B"/>
                </a:solidFill>
                <a:latin typeface="Calibri"/>
              </a:rPr>
              <a:t> and</a:t>
            </a:r>
            <a:r>
              <a:rPr sz="1350" b="0" i="0" dirty="0">
                <a:solidFill>
                  <a:srgbClr val="64748B"/>
                </a:solidFill>
                <a:latin typeface="Calibri"/>
              </a:rPr>
              <a:t> sync catches dubbing.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58968"/>
            <a:ext cx="128016" cy="7498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4589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Georgia"/>
              </a:rPr>
              <a:t>Generalization is partly fixable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4301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Augmentation helps cross-generator; diverse generators help more.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Calibri"/>
              </a:rPr>
              <a:t>HONESTY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Limitations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11D48"/>
                </a:solidFill>
                <a:latin typeface="Georg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Only 2 audio generators (SV2TTS, XTTS)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Visual sync is a hand-built feature, not SyncNet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160-clip sample for the visual analysis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Multigen test shares its generator with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9488"/>
                </a:solidFill>
                <a:latin typeface="Georgia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True leave-one-generator-out (3+ generators)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A trained AV-sync network + feature fusion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Larger, OOD visual evaluation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Real codec / RIR augmentation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375764"/>
            <a:ext cx="10515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FFFFFF"/>
                </a:solidFill>
                <a:latin typeface="Georgia"/>
              </a:rPr>
              <a:t>Thank you!</a:t>
            </a:r>
            <a:endParaRPr sz="4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11951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 dirty="0">
                <a:solidFill>
                  <a:srgbClr val="CBD5E1"/>
                </a:solidFill>
                <a:latin typeface="Calibri"/>
              </a:rPr>
              <a:t>We diagnosed a leak, exposed a generalization failure, added a complementary visual stream, and mitigated the failure with augmentation and multi-generator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1131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Spiros Batziopoulos</cp:lastModifiedBy>
  <cp:revision>15</cp:revision>
  <dcterms:created xsi:type="dcterms:W3CDTF">2013-01-27T09:14:16Z</dcterms:created>
  <dcterms:modified xsi:type="dcterms:W3CDTF">2026-06-24T18:06:32Z</dcterms:modified>
  <cp:category/>
</cp:coreProperties>
</file>